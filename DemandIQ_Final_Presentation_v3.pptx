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082d19a-e22c-740e-2950-691e19a7a934}">
          <p14:sldIdLst>
            <p14:sldId id="256"/>
            <p14:sldId id="257"/>
            <p14:sldId id="258"/>
            <p14:sldId id="259"/>
          </p14:sldIdLst>
        </p14:section>
        <p14:section name="Method" id="{56cf94c7-764a-672e-71a3-2d9cbb15f00b}">
          <p14:sldIdLst>
            <p14:sldId id="260"/>
            <p14:sldId id="261"/>
            <p14:sldId id="262"/>
            <p14:sldId id="263"/>
            <p14:sldId id="264"/>
          </p14:sldIdLst>
        </p14:section>
        <p14:section name="Outcome" id="{4b5356df-d471-1a13-49c6-6df28e46f589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PLAI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PLAI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DemandIQ  |  Mini Project Presentation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mandiq-stock.streamlit.app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ELS Institute of Science, Technology and Advanced Studi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640080"/>
            <a:ext cx="9144000" cy="125912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3317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DemandIQ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2918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Retail Demand Forecasting and Inventory Optimization System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776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Demand. Smarter Inventory.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Presentation   |   Varshini L (24619234)   |   Guide: Ms. S. J. Kavitha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Introduction</a:t>
            </a:r>
            <a:endParaRPr lang="en-US" sz="3400" dirty="0"/>
          </a:p>
        </p:txBody>
      </p:sp>
      <p:sp>
        <p:nvSpPr>
          <p:cNvPr id="3" name="Intro card 1"/>
          <p:cNvSpPr/>
          <p:nvPr/>
        </p:nvSpPr>
        <p:spPr>
          <a:xfrm>
            <a:off x="548640" y="1280160"/>
            <a:ext cx="5422392" cy="2103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demand changes fast, making inventory hard to predict. This can lead to stockouts or overstock.</a:t>
            </a:r>
            <a:endParaRPr lang="en-US" sz="1800" dirty="0"/>
          </a:p>
        </p:txBody>
      </p:sp>
      <p:sp>
        <p:nvSpPr>
          <p:cNvPr id="6" name="Intro card 2"/>
          <p:cNvSpPr/>
          <p:nvPr/>
        </p:nvSpPr>
        <p:spPr>
          <a:xfrm>
            <a:off x="6217920" y="1280160"/>
            <a:ext cx="5422392" cy="2103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417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9659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DemandIQ uses AI and machine learning to forecast demand from historical sales data. This helps retailers make faster, smarter inventory decisions.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57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10" name="Objective 1"/>
          <p:cNvSpPr/>
          <p:nvPr/>
        </p:nvSpPr>
        <p:spPr>
          <a:xfrm>
            <a:off x="548640" y="4251960"/>
            <a:ext cx="2633472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Badge 1"/>
          <p:cNvSpPr/>
          <p:nvPr/>
        </p:nvSpPr>
        <p:spPr>
          <a:xfrm>
            <a:off x="731520" y="4389120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91947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AI-based demand forecasting system</a:t>
            </a:r>
            <a:endParaRPr lang="en-US" sz="1400" dirty="0"/>
          </a:p>
        </p:txBody>
      </p:sp>
      <p:sp>
        <p:nvSpPr>
          <p:cNvPr id="14" name="Objective 2"/>
          <p:cNvSpPr/>
          <p:nvPr/>
        </p:nvSpPr>
        <p:spPr>
          <a:xfrm>
            <a:off x="3355848" y="4251960"/>
            <a:ext cx="2633472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Badge 2"/>
          <p:cNvSpPr/>
          <p:nvPr/>
        </p:nvSpPr>
        <p:spPr>
          <a:xfrm>
            <a:off x="3538728" y="4389120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38728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538728" y="491947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future product demand using historical sales data</a:t>
            </a:r>
            <a:endParaRPr lang="en-US" sz="1400" dirty="0"/>
          </a:p>
        </p:txBody>
      </p:sp>
      <p:sp>
        <p:nvSpPr>
          <p:cNvPr id="18" name="Objective 3"/>
          <p:cNvSpPr/>
          <p:nvPr/>
        </p:nvSpPr>
        <p:spPr>
          <a:xfrm>
            <a:off x="6163056" y="4251960"/>
            <a:ext cx="2633472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Badge 3"/>
          <p:cNvSpPr/>
          <p:nvPr/>
        </p:nvSpPr>
        <p:spPr>
          <a:xfrm>
            <a:off x="6345936" y="4389120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45936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345936" y="491947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stock shortages and excess inventory</a:t>
            </a:r>
            <a:endParaRPr lang="en-US" sz="1400" dirty="0"/>
          </a:p>
        </p:txBody>
      </p:sp>
      <p:sp>
        <p:nvSpPr>
          <p:cNvPr id="22" name="Objective 4"/>
          <p:cNvSpPr/>
          <p:nvPr/>
        </p:nvSpPr>
        <p:spPr>
          <a:xfrm>
            <a:off x="8970264" y="4251960"/>
            <a:ext cx="2633472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Badge 4"/>
          <p:cNvSpPr/>
          <p:nvPr/>
        </p:nvSpPr>
        <p:spPr>
          <a:xfrm>
            <a:off x="9153144" y="4389120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53144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153144" y="491947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better inventory decisions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Abstract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167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retail stores often struggle to maintain optimal inventory levels, leading to stock shortages or excess unsold goods. DemandIQ is an AI-driven retail demand forecasting and inventory optimization system that predicts future product demand from historical sales data. Instead of manual estimation, it uses a Random Forest model with calendar and lag-based features to forecast demand, and turns the forecast into safety stock, reorder point and restocking guidance on a Streamlit dashboard. The system helps retailers reduce stockouts, minimize overstocking and manage inventory efficiently, offering a practical, low-cost solution for small businesses.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94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Management; Demand Forecasting; Machine Learning; Time-Series Forecasting; Retail Analytics; Predictive Modelling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Literature Review</a:t>
            </a:r>
            <a:endParaRPr lang="en-US" sz="3400" dirty="0"/>
          </a:p>
        </p:txBody>
      </p:sp>
      <p:graphicFrame>
        <p:nvGraphicFramePr>
          <p:cNvPr id="5" name="Literat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828800"/>
                <a:gridCol w="2926080"/>
                <a:gridCol w="2743200"/>
                <a:gridCol w="29077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&amp;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Paper / Topic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 / Models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 / Relevance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Deivanayagampillai et al. (2025)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for inventory forecasting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Forest-based inventory/demand forecasting.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the usefulness of Random Forest for modelling nonlinear retail demand patterns.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Yadav (2025)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Forest/XGBoost with external big-data signals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and XGBoost with external/contextual data.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that additional external signals can improve forecasting, but such data may not be readily available to small retailers.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Fatima &amp; Salam (2025)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XGBoost, ARIMA, Prophet and SVR with context 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 of ML and time-series models with contextual features.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that model choice and contextual information can influence retail inventory forecasting performance.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Hammam et al. (2025)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Demand Forecasting Framework with Weighted Ensemble of Regression and Machine Learning Models Along Life Cycle Variability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ARIMA-family regression + XGBoost weighted ensemble; product life-cycle variability.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linear and nonlinear forecasting strengths to handle different demand patterns and product life cycles.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Muluk &amp; Akbar (2025)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Pengembangan Sistem Prediksi Permintaan untuk Reorder Point Berbasis Machine Learning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Tree, Random Forest and XGBoost; Reorder Point; Safety Stock; Streamlit.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 ML demand prediction with Reorder Point, Safety Stock and restocking recommendations.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Base Paper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Said, Kabir, Msadaa &amp; Mirmohammadsadeghi (2026). Data-Driven Demand Forecasting for Retail Decision-Making: A Hybrid Machine Learning and Time Series Approach to Inventory Optimization. J. Intell. Sustain. Decis. Anal., 1(1), 1–27.</a:t>
            </a:r>
            <a:endParaRPr lang="en-US" sz="1400" dirty="0"/>
          </a:p>
        </p:txBody>
      </p:sp>
      <p:sp>
        <p:nvSpPr>
          <p:cNvPr id="4" name="Base paper summary"/>
          <p:cNvSpPr/>
          <p:nvPr/>
        </p:nvSpPr>
        <p:spPr>
          <a:xfrm>
            <a:off x="548640" y="1920240"/>
            <a:ext cx="6766560" cy="4206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6217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Walmart's historical weekly sales data for 45 stores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(PyCaret) compares 18 time-series and 17 regression models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deep learning models tuned by grid search: RNN, LSTM, Bidirectional LSTM and GRU variants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model: Bidirectional LSTM with Random Forest on residuals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hybrid: store-level models combined into total sales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support replenishment planning and safety stock decisions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1920240"/>
            <a:ext cx="3867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hierarchical hybrid</a:t>
            </a:r>
            <a:endParaRPr lang="en-US" sz="1800" dirty="0"/>
          </a:p>
        </p:txBody>
      </p:sp>
      <p:sp>
        <p:nvSpPr>
          <p:cNvPr id="7" name="Stat MAE"/>
          <p:cNvSpPr/>
          <p:nvPr/>
        </p:nvSpPr>
        <p:spPr>
          <a:xfrm>
            <a:off x="7772400" y="2468880"/>
            <a:ext cx="3867912" cy="1097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0" y="2560320"/>
            <a:ext cx="3867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306,361.11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310896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600" dirty="0"/>
          </a:p>
        </p:txBody>
      </p:sp>
      <p:sp>
        <p:nvSpPr>
          <p:cNvPr id="10" name="Stat RMSE"/>
          <p:cNvSpPr/>
          <p:nvPr/>
        </p:nvSpPr>
        <p:spPr>
          <a:xfrm>
            <a:off x="7772400" y="3703320"/>
            <a:ext cx="3867912" cy="1097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0" y="3794760"/>
            <a:ext cx="3867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528,096.34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434340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600" dirty="0"/>
          </a:p>
        </p:txBody>
      </p:sp>
      <p:sp>
        <p:nvSpPr>
          <p:cNvPr id="13" name="Stat R²"/>
          <p:cNvSpPr/>
          <p:nvPr/>
        </p:nvSpPr>
        <p:spPr>
          <a:xfrm>
            <a:off x="7772400" y="4937760"/>
            <a:ext cx="3867912" cy="1097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0" y="5029200"/>
            <a:ext cx="3867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557784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System Architecture</a:t>
            </a:r>
            <a:endParaRPr lang="en-US" sz="3400" dirty="0"/>
          </a:p>
        </p:txBody>
      </p:sp>
      <p:pic>
        <p:nvPicPr>
          <p:cNvPr id="3" name="Image 0" descr="System architecture: data source, preprocessing, feature engineering, Random Forest forecasting, inventory optimization, Streamlit dashboard, retailer, feedback lo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188720"/>
            <a:ext cx="9592056" cy="4937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Modules</a:t>
            </a:r>
            <a:endParaRPr lang="en-US" sz="3400" dirty="0"/>
          </a:p>
        </p:txBody>
      </p:sp>
      <p:sp>
        <p:nvSpPr>
          <p:cNvPr id="3" name="Flow card 1"/>
          <p:cNvSpPr/>
          <p:nvPr/>
        </p:nvSpPr>
        <p:spPr>
          <a:xfrm>
            <a:off x="548640" y="1463040"/>
            <a:ext cx="1645920" cy="3017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Badge 1"/>
          <p:cNvSpPr/>
          <p:nvPr/>
        </p:nvSpPr>
        <p:spPr>
          <a:xfrm>
            <a:off x="1161288" y="1645920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61288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24028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97180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daily sales records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93192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sales records</a:t>
            </a:r>
            <a:endParaRPr lang="en-US" sz="1300" dirty="0"/>
          </a:p>
        </p:txBody>
      </p:sp>
      <p:sp>
        <p:nvSpPr>
          <p:cNvPr id="9" name="Flow arrow 1"/>
          <p:cNvSpPr/>
          <p:nvPr/>
        </p:nvSpPr>
        <p:spPr>
          <a:xfrm>
            <a:off x="2206447" y="2834640"/>
            <a:ext cx="219456" cy="274320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10" name="Flow card 2"/>
          <p:cNvSpPr/>
          <p:nvPr/>
        </p:nvSpPr>
        <p:spPr>
          <a:xfrm>
            <a:off x="2437790" y="1463040"/>
            <a:ext cx="1645920" cy="3017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Badge 2"/>
          <p:cNvSpPr/>
          <p:nvPr/>
        </p:nvSpPr>
        <p:spPr>
          <a:xfrm>
            <a:off x="3050438" y="1645920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50438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547518" y="224028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547518" y="297180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and sorts by date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547518" y="393192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time series</a:t>
            </a:r>
            <a:endParaRPr lang="en-US" sz="1300" dirty="0"/>
          </a:p>
        </p:txBody>
      </p:sp>
      <p:sp>
        <p:nvSpPr>
          <p:cNvPr id="16" name="Flow arrow 2"/>
          <p:cNvSpPr/>
          <p:nvPr/>
        </p:nvSpPr>
        <p:spPr>
          <a:xfrm>
            <a:off x="4095598" y="2834640"/>
            <a:ext cx="219456" cy="274320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17" name="Flow card 3"/>
          <p:cNvSpPr/>
          <p:nvPr/>
        </p:nvSpPr>
        <p:spPr>
          <a:xfrm>
            <a:off x="4326941" y="1463040"/>
            <a:ext cx="1645920" cy="3017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Badge 3"/>
          <p:cNvSpPr/>
          <p:nvPr/>
        </p:nvSpPr>
        <p:spPr>
          <a:xfrm>
            <a:off x="4939589" y="1645920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39589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436669" y="224028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436669" y="297180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calendar, lag and rolling features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436669" y="393192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Model-ready features</a:t>
            </a:r>
            <a:endParaRPr lang="en-US" sz="1300" dirty="0"/>
          </a:p>
        </p:txBody>
      </p:sp>
      <p:sp>
        <p:nvSpPr>
          <p:cNvPr id="23" name="Flow arrow 3"/>
          <p:cNvSpPr/>
          <p:nvPr/>
        </p:nvSpPr>
        <p:spPr>
          <a:xfrm>
            <a:off x="5984748" y="2834640"/>
            <a:ext cx="219456" cy="274320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24" name="Flow card 4"/>
          <p:cNvSpPr/>
          <p:nvPr/>
        </p:nvSpPr>
        <p:spPr>
          <a:xfrm>
            <a:off x="6216091" y="1463040"/>
            <a:ext cx="1645920" cy="3017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Badge 4"/>
          <p:cNvSpPr/>
          <p:nvPr/>
        </p:nvSpPr>
        <p:spPr>
          <a:xfrm>
            <a:off x="6828739" y="1645920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28739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325819" y="224028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325819" y="297180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predicts next-day demand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325819" y="393192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demand</a:t>
            </a:r>
            <a:endParaRPr lang="en-US" sz="1300" dirty="0"/>
          </a:p>
        </p:txBody>
      </p:sp>
      <p:sp>
        <p:nvSpPr>
          <p:cNvPr id="30" name="Flow arrow 4"/>
          <p:cNvSpPr/>
          <p:nvPr/>
        </p:nvSpPr>
        <p:spPr>
          <a:xfrm>
            <a:off x="7873898" y="2834640"/>
            <a:ext cx="219456" cy="274320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31" name="Flow card 5"/>
          <p:cNvSpPr/>
          <p:nvPr/>
        </p:nvSpPr>
        <p:spPr>
          <a:xfrm>
            <a:off x="8105242" y="1463040"/>
            <a:ext cx="1645920" cy="3017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2" name="Badge 5"/>
          <p:cNvSpPr/>
          <p:nvPr/>
        </p:nvSpPr>
        <p:spPr>
          <a:xfrm>
            <a:off x="8717890" y="1645920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71789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214970" y="224028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Optimization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214970" y="297180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stock, reorder point and restock quantity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214970" y="393192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indicators</a:t>
            </a:r>
            <a:endParaRPr lang="en-US" sz="1300" dirty="0"/>
          </a:p>
        </p:txBody>
      </p:sp>
      <p:sp>
        <p:nvSpPr>
          <p:cNvPr id="37" name="Flow arrow 5"/>
          <p:cNvSpPr/>
          <p:nvPr/>
        </p:nvSpPr>
        <p:spPr>
          <a:xfrm>
            <a:off x="9763049" y="2834640"/>
            <a:ext cx="219456" cy="274320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38" name="Flow card 6"/>
          <p:cNvSpPr/>
          <p:nvPr/>
        </p:nvSpPr>
        <p:spPr>
          <a:xfrm>
            <a:off x="9994392" y="1463040"/>
            <a:ext cx="1645920" cy="3017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9" name="Badge 6"/>
          <p:cNvSpPr/>
          <p:nvPr/>
        </p:nvSpPr>
        <p:spPr>
          <a:xfrm>
            <a:off x="10607040" y="1645920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060704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10104120" y="224028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Reporting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10104120" y="297180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for the retailer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104120" y="393192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and report</a:t>
            </a:r>
            <a:endParaRPr lang="en-US" sz="1300" dirty="0"/>
          </a:p>
        </p:txBody>
      </p:sp>
      <p:sp>
        <p:nvSpPr>
          <p:cNvPr id="44" name="Group line Prepare the data"/>
          <p:cNvSpPr/>
          <p:nvPr/>
        </p:nvSpPr>
        <p:spPr>
          <a:xfrm>
            <a:off x="548640" y="4800600"/>
            <a:ext cx="5424221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48640" y="4892040"/>
            <a:ext cx="54242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data</a:t>
            </a:r>
            <a:endParaRPr lang="en-US" sz="1800" dirty="0"/>
          </a:p>
        </p:txBody>
      </p:sp>
      <p:sp>
        <p:nvSpPr>
          <p:cNvPr id="46" name="Group line Predict and decide"/>
          <p:cNvSpPr/>
          <p:nvPr/>
        </p:nvSpPr>
        <p:spPr>
          <a:xfrm>
            <a:off x="6216091" y="4800600"/>
            <a:ext cx="353507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216091" y="4892040"/>
            <a:ext cx="35350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and decide</a:t>
            </a:r>
            <a:endParaRPr lang="en-US" sz="1800" dirty="0"/>
          </a:p>
        </p:txBody>
      </p:sp>
      <p:sp>
        <p:nvSpPr>
          <p:cNvPr id="48" name="Group line Present"/>
          <p:cNvSpPr/>
          <p:nvPr/>
        </p:nvSpPr>
        <p:spPr>
          <a:xfrm>
            <a:off x="9994392" y="4800600"/>
            <a:ext cx="164592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994392" y="4892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Modules Explained (1–3)</a:t>
            </a:r>
            <a:endParaRPr lang="en-US" sz="3400" dirty="0"/>
          </a:p>
        </p:txBody>
      </p:sp>
      <p:sp>
        <p:nvSpPr>
          <p:cNvPr id="3" name="Module card 1"/>
          <p:cNvSpPr/>
          <p:nvPr/>
        </p:nvSpPr>
        <p:spPr>
          <a:xfrm>
            <a:off x="548640" y="1280160"/>
            <a:ext cx="3593592" cy="3749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Badge 1"/>
          <p:cNvSpPr/>
          <p:nvPr/>
        </p:nvSpPr>
        <p:spPr>
          <a:xfrm>
            <a:off x="777240" y="1463040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6304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historical daily sales records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used: date, store, item and sales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converted to date/time type</a:t>
            </a:r>
            <a:endParaRPr lang="en-US" sz="1800" dirty="0"/>
          </a:p>
        </p:txBody>
      </p:sp>
      <p:sp>
        <p:nvSpPr>
          <p:cNvPr id="8" name="Module card 2"/>
          <p:cNvSpPr/>
          <p:nvPr/>
        </p:nvSpPr>
        <p:spPr>
          <a:xfrm>
            <a:off x="4297680" y="1280160"/>
            <a:ext cx="3593592" cy="3749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Badge 2"/>
          <p:cNvSpPr/>
          <p:nvPr/>
        </p:nvSpPr>
        <p:spPr>
          <a:xfrm>
            <a:off x="4526280" y="1463040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146304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19456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records chronologically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missing and non-numeric values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each store–item series separate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913,000 rows reduce to about 909,500 usable rows</a:t>
            </a:r>
            <a:endParaRPr lang="en-US" sz="1800" dirty="0"/>
          </a:p>
        </p:txBody>
      </p:sp>
      <p:sp>
        <p:nvSpPr>
          <p:cNvPr id="13" name="Module card 3"/>
          <p:cNvSpPr/>
          <p:nvPr/>
        </p:nvSpPr>
        <p:spPr>
          <a:xfrm>
            <a:off x="8046720" y="1280160"/>
            <a:ext cx="3593592" cy="3749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Badge 3"/>
          <p:cNvSpPr/>
          <p:nvPr/>
        </p:nvSpPr>
        <p:spPr>
          <a:xfrm>
            <a:off x="8275320" y="1463040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7532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823960" y="146304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19456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Calendar: day, month, year, weekday, weekend flag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Lag-1 and Lag-7 sales per store–item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rolling mean from past values only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Modules Explained (4–6)</a:t>
            </a:r>
            <a:endParaRPr lang="en-US" sz="3400" dirty="0"/>
          </a:p>
        </p:txBody>
      </p:sp>
      <p:sp>
        <p:nvSpPr>
          <p:cNvPr id="3" name="Module card 4"/>
          <p:cNvSpPr/>
          <p:nvPr/>
        </p:nvSpPr>
        <p:spPr>
          <a:xfrm>
            <a:off x="548640" y="1280160"/>
            <a:ext cx="3593592" cy="3749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Badge 4"/>
          <p:cNvSpPr/>
          <p:nvPr/>
        </p:nvSpPr>
        <p:spPr>
          <a:xfrm>
            <a:off x="777240" y="1463040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6304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Regressor, 30 trees, depth 15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earlier 80% of data, tested on latest 20%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next-day demand</a:t>
            </a:r>
            <a:endParaRPr lang="en-US" sz="1800" dirty="0"/>
          </a:p>
        </p:txBody>
      </p:sp>
      <p:sp>
        <p:nvSpPr>
          <p:cNvPr id="8" name="Module card 5"/>
          <p:cNvSpPr/>
          <p:nvPr/>
        </p:nvSpPr>
        <p:spPr>
          <a:xfrm>
            <a:off x="4297680" y="1280160"/>
            <a:ext cx="3593592" cy="3749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Badge 5"/>
          <p:cNvSpPr/>
          <p:nvPr/>
        </p:nvSpPr>
        <p:spPr>
          <a:xfrm>
            <a:off x="4526280" y="1463040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146304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Optimization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19456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stock and reorder point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restock = max(0, reorder point − current stock)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coverage in days and inventory status</a:t>
            </a:r>
            <a:endParaRPr lang="en-US" sz="1800" dirty="0"/>
          </a:p>
        </p:txBody>
      </p:sp>
      <p:sp>
        <p:nvSpPr>
          <p:cNvPr id="13" name="Module card 6"/>
          <p:cNvSpPr/>
          <p:nvPr/>
        </p:nvSpPr>
        <p:spPr>
          <a:xfrm>
            <a:off x="8046720" y="1280160"/>
            <a:ext cx="3593592" cy="3749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Badge 6"/>
          <p:cNvSpPr/>
          <p:nvPr/>
        </p:nvSpPr>
        <p:spPr>
          <a:xfrm>
            <a:off x="8275320" y="1463040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7532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823960" y="146304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Reporting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19456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Control Center: store, item, stock, lead times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forecast, status, safety stock, reorder point, restock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trend, insights and downloadable shop-owner report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Implementation</a:t>
            </a:r>
            <a:endParaRPr lang="en-US" sz="3400" dirty="0"/>
          </a:p>
        </p:txBody>
      </p:sp>
      <p:sp>
        <p:nvSpPr>
          <p:cNvPr id="3" name="Step 1"/>
          <p:cNvSpPr/>
          <p:nvPr/>
        </p:nvSpPr>
        <p:spPr>
          <a:xfrm>
            <a:off x="548640" y="1280160"/>
            <a:ext cx="1371600" cy="10515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21792" y="1280160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sales data</a:t>
            </a:r>
            <a:endParaRPr lang="en-US" sz="1400" dirty="0"/>
          </a:p>
        </p:txBody>
      </p:sp>
      <p:sp>
        <p:nvSpPr>
          <p:cNvPr id="5" name="Arrow 1"/>
          <p:cNvSpPr/>
          <p:nvPr/>
        </p:nvSpPr>
        <p:spPr>
          <a:xfrm>
            <a:off x="1956816" y="1709928"/>
            <a:ext cx="182880" cy="18288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6" name="Step 2"/>
          <p:cNvSpPr/>
          <p:nvPr/>
        </p:nvSpPr>
        <p:spPr>
          <a:xfrm>
            <a:off x="2176272" y="1280160"/>
            <a:ext cx="1371600" cy="10515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249424" y="1280160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and sort by date</a:t>
            </a:r>
            <a:endParaRPr lang="en-US" sz="1400" dirty="0"/>
          </a:p>
        </p:txBody>
      </p:sp>
      <p:sp>
        <p:nvSpPr>
          <p:cNvPr id="8" name="Arrow 2"/>
          <p:cNvSpPr/>
          <p:nvPr/>
        </p:nvSpPr>
        <p:spPr>
          <a:xfrm>
            <a:off x="3584448" y="1709928"/>
            <a:ext cx="182880" cy="18288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9" name="Step 3"/>
          <p:cNvSpPr/>
          <p:nvPr/>
        </p:nvSpPr>
        <p:spPr>
          <a:xfrm>
            <a:off x="3803904" y="1280160"/>
            <a:ext cx="1371600" cy="10515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77056" y="1280160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features</a:t>
            </a:r>
            <a:endParaRPr lang="en-US" sz="1400" dirty="0"/>
          </a:p>
        </p:txBody>
      </p:sp>
      <p:sp>
        <p:nvSpPr>
          <p:cNvPr id="11" name="Arrow 3"/>
          <p:cNvSpPr/>
          <p:nvPr/>
        </p:nvSpPr>
        <p:spPr>
          <a:xfrm>
            <a:off x="5212080" y="1709928"/>
            <a:ext cx="182880" cy="18288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2" name="Step 4"/>
          <p:cNvSpPr/>
          <p:nvPr/>
        </p:nvSpPr>
        <p:spPr>
          <a:xfrm>
            <a:off x="5431536" y="1280160"/>
            <a:ext cx="1371600" cy="10515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504688" y="1280160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80/20 split</a:t>
            </a:r>
            <a:endParaRPr lang="en-US" sz="1400" dirty="0"/>
          </a:p>
        </p:txBody>
      </p:sp>
      <p:sp>
        <p:nvSpPr>
          <p:cNvPr id="14" name="Arrow 4"/>
          <p:cNvSpPr/>
          <p:nvPr/>
        </p:nvSpPr>
        <p:spPr>
          <a:xfrm>
            <a:off x="6839712" y="1709928"/>
            <a:ext cx="182880" cy="18288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5" name="Step 5"/>
          <p:cNvSpPr/>
          <p:nvPr/>
        </p:nvSpPr>
        <p:spPr>
          <a:xfrm>
            <a:off x="7059168" y="1280160"/>
            <a:ext cx="1371600" cy="10515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0" y="1280160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Random Forest</a:t>
            </a:r>
            <a:endParaRPr lang="en-US" sz="1400" dirty="0"/>
          </a:p>
        </p:txBody>
      </p:sp>
      <p:sp>
        <p:nvSpPr>
          <p:cNvPr id="17" name="Arrow 5"/>
          <p:cNvSpPr/>
          <p:nvPr/>
        </p:nvSpPr>
        <p:spPr>
          <a:xfrm>
            <a:off x="8467344" y="1709928"/>
            <a:ext cx="182880" cy="18288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8" name="Step 6"/>
          <p:cNvSpPr/>
          <p:nvPr/>
        </p:nvSpPr>
        <p:spPr>
          <a:xfrm>
            <a:off x="8686800" y="1280160"/>
            <a:ext cx="1371600" cy="10515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759952" y="1280160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MAE, RMSE, R²</a:t>
            </a:r>
            <a:endParaRPr lang="en-US" sz="1400" dirty="0"/>
          </a:p>
        </p:txBody>
      </p:sp>
      <p:sp>
        <p:nvSpPr>
          <p:cNvPr id="20" name="Arrow 6"/>
          <p:cNvSpPr/>
          <p:nvPr/>
        </p:nvSpPr>
        <p:spPr>
          <a:xfrm>
            <a:off x="10094976" y="1709928"/>
            <a:ext cx="182880" cy="18288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1" name="Step 7"/>
          <p:cNvSpPr/>
          <p:nvPr/>
        </p:nvSpPr>
        <p:spPr>
          <a:xfrm>
            <a:off x="10314432" y="1280160"/>
            <a:ext cx="1371600" cy="10515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387584" y="1280160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400" dirty="0"/>
          </a:p>
        </p:txBody>
      </p:sp>
      <p:sp>
        <p:nvSpPr>
          <p:cNvPr id="23" name="Impl card 1"/>
          <p:cNvSpPr/>
          <p:nvPr/>
        </p:nvSpPr>
        <p:spPr>
          <a:xfrm>
            <a:off x="548640" y="2697480"/>
            <a:ext cx="3593592" cy="3017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Features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33832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913,000 daily records; about 909,500 usable after feature creation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features, Lag-1, Lag-7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rolling mean</a:t>
            </a:r>
            <a:endParaRPr lang="en-US" sz="1600" dirty="0"/>
          </a:p>
        </p:txBody>
      </p:sp>
      <p:sp>
        <p:nvSpPr>
          <p:cNvPr id="26" name="Impl card 2"/>
          <p:cNvSpPr/>
          <p:nvPr/>
        </p:nvSpPr>
        <p:spPr>
          <a:xfrm>
            <a:off x="4297680" y="2697480"/>
            <a:ext cx="3593592" cy="3017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7200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33832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 (scikit-learn)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trees, max depth 15, random_state 42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80% to train, latest 20% to test</a:t>
            </a:r>
            <a:endParaRPr lang="en-US" sz="1600" dirty="0"/>
          </a:p>
        </p:txBody>
      </p:sp>
      <p:sp>
        <p:nvSpPr>
          <p:cNvPr id="29" name="Impl card 3"/>
          <p:cNvSpPr/>
          <p:nvPr/>
        </p:nvSpPr>
        <p:spPr>
          <a:xfrm>
            <a:off x="8046720" y="2697480"/>
            <a:ext cx="3593592" cy="3017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2104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Rules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33832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Stock = (Max daily sales × Max lead time) − (Avg daily sales × Lead time)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Point = (Avg daily sales × Lead time) + Safety Stock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Restock = max(0, Reorder Point − Stock)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Results</a:t>
            </a:r>
            <a:endParaRPr lang="en-US" sz="3400" dirty="0"/>
          </a:p>
        </p:txBody>
      </p:sp>
      <p:pic>
        <p:nvPicPr>
          <p:cNvPr id="3" name="Image 0" descr="DemandIQ dashboard: inventory health and decision for Store 1, Item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440680" cy="2564892"/>
          </a:xfrm>
          <a:prstGeom prst="rect">
            <a:avLst/>
          </a:prstGeom>
        </p:spPr>
      </p:pic>
      <p:pic>
        <p:nvPicPr>
          <p:cNvPr id="4" name="Image 1" descr="DemandIQ dashboard: insights, shop owner report and AI model performa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188720"/>
            <a:ext cx="5440680" cy="258043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84048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health and decision (Store 1, Item 1)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6199632" y="384048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Insights, shop-owner report and model performance</a:t>
            </a:r>
            <a:endParaRPr lang="en-US" sz="1400" dirty="0"/>
          </a:p>
        </p:txBody>
      </p:sp>
      <p:sp>
        <p:nvSpPr>
          <p:cNvPr id="7" name="Result stat 1"/>
          <p:cNvSpPr/>
          <p:nvPr/>
        </p:nvSpPr>
        <p:spPr>
          <a:xfrm>
            <a:off x="548640" y="4343400"/>
            <a:ext cx="2633472" cy="1325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48640" y="4434840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6.5353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502920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400" dirty="0"/>
          </a:p>
        </p:txBody>
      </p:sp>
      <p:sp>
        <p:nvSpPr>
          <p:cNvPr id="10" name="Result stat 2"/>
          <p:cNvSpPr/>
          <p:nvPr/>
        </p:nvSpPr>
        <p:spPr>
          <a:xfrm>
            <a:off x="3355848" y="4343400"/>
            <a:ext cx="2633472" cy="1325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3355848" y="4434840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8.5242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3447288" y="502920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400" dirty="0"/>
          </a:p>
        </p:txBody>
      </p:sp>
      <p:sp>
        <p:nvSpPr>
          <p:cNvPr id="13" name="Result stat 3"/>
          <p:cNvSpPr/>
          <p:nvPr/>
        </p:nvSpPr>
        <p:spPr>
          <a:xfrm>
            <a:off x="6163056" y="4343400"/>
            <a:ext cx="2633472" cy="1325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163056" y="4434840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0.9270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6254496" y="502920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400" dirty="0"/>
          </a:p>
        </p:txBody>
      </p:sp>
      <p:sp>
        <p:nvSpPr>
          <p:cNvPr id="16" name="Result stat 4"/>
          <p:cNvSpPr/>
          <p:nvPr/>
        </p:nvSpPr>
        <p:spPr>
          <a:xfrm>
            <a:off x="8970264" y="4343400"/>
            <a:ext cx="2633472" cy="1325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970264" y="4434840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units</a:t>
            </a:r>
            <a:endParaRPr lang="en-US" sz="3000" dirty="0"/>
          </a:p>
        </p:txBody>
      </p:sp>
      <p:sp>
        <p:nvSpPr>
          <p:cNvPr id="18" name="Text 14"/>
          <p:cNvSpPr txBox="1"/>
          <p:nvPr/>
        </p:nvSpPr>
        <p:spPr>
          <a:xfrm>
            <a:off x="9061704" y="502920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restock (status: CRITICAL)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app: </a:t>
            </a:r>
            <a:pPr indent="0" marL="0">
              <a:buNone/>
            </a:pPr>
            <a:r>
              <a:rPr lang="en-US" sz="1500" u="sng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demandiq-stock.streamlit.app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References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Deivanayagampillai et al. (2025). Random Forest for Inventory Forecasting.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Yadav (2025). Retail demand forecasting using Random Forest/XGBoost with external big-data signals.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Fatima, &amp; Salam (2025). Retail inventory forecasting using XGBoost, ARIMA, Prophet and SVR with contextual features.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Hammam, I. M., El-Kharbotly, A. K., &amp; Sadek, Y. M. (2025). Adaptive Demand Forecasting Framework with Weighted Ensemble of Regression and Machine Learning Models Along Life Cycle Variability. Scientific Reports, 15, 38482. https://doi.org/10.1038/s41598-025-23352-w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Muluk, A., &amp; Akbar, A. N. (2025). Pengembangan Sistem Prediksi Permintaan untuk Reorder Point Berbasis Machine Learning. Jurnal Inovasi Rekayasa Mekanikal dan Termal, 3(1), 79–84. https://doi.org/10.25077/inomet.3.1.79-84.2025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Breiman, L. (2001). Random Forests. Machine Learning, 45, 5–32.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scikit-learn Developers. RandomForestRegressor documentation. Scikit-learn User Guide.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Streamlit, Inc. Streamlit documentation: building data applications in Python.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pandas Development Team. pandas documentation: data structures and time-series data handling.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NumPy Developers. NumPy documentation: numerical computing in Python.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Said, N. B., Kabir, G., Msadaa, I. C., &amp; Mirmohammadsadeghi, S. (2026). Data-driven demand forecasting for retail decision-making: A hybrid machine learning and time series approach to inventory optimization. J. Intell. Sustain. Decis. Anal., 1(1), 1–27. https://doi.org/10.56578/jisda010101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mandIQ Plain">
  <a:themeElements>
    <a:clrScheme name="DemandIQ Plain">
      <a:dk1>
        <a:srgbClr val="000000"/>
      </a:dk1>
      <a:lt1>
        <a:srgbClr val="FFFFFF"/>
      </a:lt1>
      <a:dk2>
        <a:srgbClr val="404040"/>
      </a:dk2>
      <a:lt2>
        <a:srgbClr val="F2F2F2"/>
      </a:lt2>
      <a:accent1>
        <a:srgbClr val="000000"/>
      </a:accent1>
      <a:accent2>
        <a:srgbClr val="595959"/>
      </a:accent2>
      <a:accent3>
        <a:srgbClr val="7F7F7F"/>
      </a:accent3>
      <a:accent4>
        <a:srgbClr val="A6A6A6"/>
      </a:accent4>
      <a:accent5>
        <a:srgbClr val="BFBFBF"/>
      </a:accent5>
      <a:accent6>
        <a:srgbClr val="D9D9D9"/>
      </a:accent6>
      <a:hlink>
        <a:srgbClr val="000000"/>
      </a:hlink>
      <a:folHlink>
        <a:srgbClr val="595959"/>
      </a:folHlink>
    </a:clrScheme>
    <a:fontScheme name="DemandIQ Plai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DemandIQ Mini Project Presentation</dc:title>
  <dc:subject>PptxGenJS Presentation</dc:subject>
  <dc:creator>Varshini L</dc:creator>
  <cp:lastModifiedBy>Varshini L</cp:lastModifiedBy>
  <cp:revision>1</cp:revision>
  <dcterms:created xsi:type="dcterms:W3CDTF">2026-10-30T02:52:39Z</dcterms:created>
  <dcterms:modified xsi:type="dcterms:W3CDTF">2026-10-30T02:52:39Z</dcterms:modified>
</cp:coreProperties>
</file>